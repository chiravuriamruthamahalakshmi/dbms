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8" r:id="rId2"/>
    <p:sldId id="272" r:id="rId3"/>
    <p:sldId id="273" r:id="rId4"/>
    <p:sldId id="256" r:id="rId5"/>
    <p:sldId id="287" r:id="rId6"/>
    <p:sldId id="260" r:id="rId7"/>
    <p:sldId id="262" r:id="rId8"/>
    <p:sldId id="274" r:id="rId9"/>
    <p:sldId id="281" r:id="rId10"/>
    <p:sldId id="276" r:id="rId11"/>
    <p:sldId id="284" r:id="rId12"/>
    <p:sldId id="285" r:id="rId13"/>
    <p:sldId id="286" r:id="rId14"/>
    <p:sldId id="277" r:id="rId15"/>
    <p:sldId id="278" r:id="rId16"/>
    <p:sldId id="271" r:id="rId17"/>
    <p:sldId id="280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BBD9"/>
    <a:srgbClr val="DAC2D1"/>
    <a:srgbClr val="FF6600"/>
    <a:srgbClr val="613195"/>
    <a:srgbClr val="D9F3F5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56" autoAdjust="0"/>
  </p:normalViewPr>
  <p:slideViewPr>
    <p:cSldViewPr snapToGrid="0">
      <p:cViewPr varScale="1">
        <p:scale>
          <a:sx n="62" d="100"/>
          <a:sy n="62" d="100"/>
        </p:scale>
        <p:origin x="8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547D5-2245-4A3B-A165-54928B82EE87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4132-11B3-49E7-A692-9EB4EE2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685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547D5-2245-4A3B-A165-54928B82EE87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4132-11B3-49E7-A692-9EB4EE2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252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547D5-2245-4A3B-A165-54928B82EE87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4132-11B3-49E7-A692-9EB4EE2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769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547D5-2245-4A3B-A165-54928B82EE87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4132-11B3-49E7-A692-9EB4EE2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084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547D5-2245-4A3B-A165-54928B82EE87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4132-11B3-49E7-A692-9EB4EE2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832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547D5-2245-4A3B-A165-54928B82EE87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4132-11B3-49E7-A692-9EB4EE2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541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547D5-2245-4A3B-A165-54928B82EE87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4132-11B3-49E7-A692-9EB4EE2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275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547D5-2245-4A3B-A165-54928B82EE87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4132-11B3-49E7-A692-9EB4EE2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762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547D5-2245-4A3B-A165-54928B82EE87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4132-11B3-49E7-A692-9EB4EE2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48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547D5-2245-4A3B-A165-54928B82EE87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4132-11B3-49E7-A692-9EB4EE2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122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547D5-2245-4A3B-A165-54928B82EE87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E54132-11B3-49E7-A692-9EB4EE2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695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547D5-2245-4A3B-A165-54928B82EE87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54132-11B3-49E7-A692-9EB4EE2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561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jpe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47C1A8-C76B-44CE-A43E-56A33E43FAB4}"/>
              </a:ext>
            </a:extLst>
          </p:cNvPr>
          <p:cNvSpPr/>
          <p:nvPr/>
        </p:nvSpPr>
        <p:spPr>
          <a:xfrm>
            <a:off x="2576678" y="2544930"/>
            <a:ext cx="84342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Bodoni MT" panose="02070603080606020203" pitchFamily="18" charset="0"/>
              </a:rPr>
              <a:t>SOFTWARE MANAGEMENT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C6DB3-D8F2-DBA1-4B88-4D59F9FE3B98}"/>
              </a:ext>
            </a:extLst>
          </p:cNvPr>
          <p:cNvSpPr txBox="1"/>
          <p:nvPr/>
        </p:nvSpPr>
        <p:spPr>
          <a:xfrm>
            <a:off x="4563456" y="1983108"/>
            <a:ext cx="33127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accent1">
                    <a:lumMod val="75000"/>
                  </a:schemeClr>
                </a:solidFill>
              </a:rPr>
              <a:t>Capstone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C42616-E97B-1214-8149-E36531CF04E7}"/>
              </a:ext>
            </a:extLst>
          </p:cNvPr>
          <p:cNvSpPr txBox="1"/>
          <p:nvPr/>
        </p:nvSpPr>
        <p:spPr>
          <a:xfrm>
            <a:off x="3678023" y="3369850"/>
            <a:ext cx="483595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Presented by</a:t>
            </a:r>
          </a:p>
          <a:p>
            <a:pPr algn="ctr"/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P.Sahithi          [25B11AI958]</a:t>
            </a:r>
          </a:p>
          <a:p>
            <a:pPr algn="ctr"/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CH.Amrutha   [25B11AI222]</a:t>
            </a:r>
          </a:p>
          <a:p>
            <a:pPr algn="ctr"/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G.Vijay             [25B11AI306]</a:t>
            </a:r>
          </a:p>
          <a:p>
            <a:pPr algn="ctr"/>
            <a:r>
              <a:rPr lang="en-IN" sz="2000" dirty="0">
                <a:solidFill>
                  <a:schemeClr val="accent5">
                    <a:lumMod val="75000"/>
                  </a:schemeClr>
                </a:solidFill>
              </a:rPr>
              <a:t>T.Yamini           [25B11AIB61]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C173FD-EC0F-F200-C0B9-6116B359FEA0}"/>
              </a:ext>
            </a:extLst>
          </p:cNvPr>
          <p:cNvSpPr txBox="1"/>
          <p:nvPr/>
        </p:nvSpPr>
        <p:spPr>
          <a:xfrm>
            <a:off x="2077432" y="5666922"/>
            <a:ext cx="68786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            </a:t>
            </a:r>
            <a:r>
              <a:rPr lang="en-IN" sz="20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</a:t>
            </a:r>
          </a:p>
          <a:p>
            <a:r>
              <a:rPr lang="en-IN" sz="20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Artificial Intelligence and Machine Learning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51C73F-9CA2-4745-BC3D-BB19DBC1E818}"/>
              </a:ext>
            </a:extLst>
          </p:cNvPr>
          <p:cNvSpPr txBox="1"/>
          <p:nvPr/>
        </p:nvSpPr>
        <p:spPr>
          <a:xfrm flipH="1">
            <a:off x="3064723" y="1278804"/>
            <a:ext cx="66172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5">
                    <a:lumMod val="75000"/>
                  </a:schemeClr>
                </a:solidFill>
                <a:latin typeface="Bahnschrift SemiBold" panose="020B0502040204020203" pitchFamily="34" charset="0"/>
              </a:rPr>
              <a:t>DATABASE MANAGEMENT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028EFB-1A98-41DB-97E6-A4C8117ABC43}"/>
              </a:ext>
            </a:extLst>
          </p:cNvPr>
          <p:cNvSpPr txBox="1"/>
          <p:nvPr/>
        </p:nvSpPr>
        <p:spPr>
          <a:xfrm flipH="1">
            <a:off x="4085957" y="5133939"/>
            <a:ext cx="3715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GUIDED BY </a:t>
            </a:r>
            <a:r>
              <a:rPr lang="en-US" sz="2000" dirty="0"/>
              <a:t>: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</a:rPr>
              <a:t>M. Pravallika Madam</a:t>
            </a:r>
          </a:p>
        </p:txBody>
      </p:sp>
      <p:pic>
        <p:nvPicPr>
          <p:cNvPr id="1026" name="Picture 2" descr="Basics of Quantum Computing Algorithms by Dr. P. Venkata Subba Reddy ...">
            <a:extLst>
              <a:ext uri="{FF2B5EF4-FFF2-40B4-BE49-F238E27FC236}">
                <a16:creationId xmlns:a16="http://schemas.microsoft.com/office/drawing/2014/main" id="{F74C9770-64F7-489E-83C2-9449B75318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72" t="12206" r="4297" b="64908"/>
          <a:stretch/>
        </p:blipFill>
        <p:spPr bwMode="auto">
          <a:xfrm>
            <a:off x="2936079" y="153043"/>
            <a:ext cx="6319839" cy="908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41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8C234A-B10F-E8CF-14EA-8C7B5A12B5CB}"/>
              </a:ext>
            </a:extLst>
          </p:cNvPr>
          <p:cNvSpPr txBox="1"/>
          <p:nvPr/>
        </p:nvSpPr>
        <p:spPr>
          <a:xfrm>
            <a:off x="4055882" y="406650"/>
            <a:ext cx="27874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dirty="0">
                <a:solidFill>
                  <a:srgbClr val="002060"/>
                </a:solidFill>
                <a:latin typeface="Elephant" panose="02020904090505020303" pitchFamily="18" charset="0"/>
              </a:rPr>
              <a:t>contents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D2CEFE-5B8B-4070-2033-A4DE53618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24" y="122991"/>
            <a:ext cx="1792264" cy="57233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50C95F4-8C10-4650-A33C-5E284F0EF4B8}"/>
              </a:ext>
            </a:extLst>
          </p:cNvPr>
          <p:cNvSpPr/>
          <p:nvPr/>
        </p:nvSpPr>
        <p:spPr>
          <a:xfrm>
            <a:off x="912151" y="1010894"/>
            <a:ext cx="4993349" cy="592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Abstract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Introduction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Problem Statement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Objectives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Entities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Attributes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ER – diagram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 startAt="8"/>
            </a:pP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Normalization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8AC9E9-A040-4BE6-80EF-994DFD9F6BE0}"/>
              </a:ext>
            </a:extLst>
          </p:cNvPr>
          <p:cNvSpPr txBox="1"/>
          <p:nvPr/>
        </p:nvSpPr>
        <p:spPr>
          <a:xfrm>
            <a:off x="6645569" y="1010894"/>
            <a:ext cx="4807324" cy="5186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9. Commands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10. View Queries 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11. Join Queries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12. Acid Properties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13. Recovery techniques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14. conclusion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solidFill>
                  <a:schemeClr val="accent3">
                    <a:lumMod val="75000"/>
                  </a:schemeClr>
                </a:solidFill>
              </a:rPr>
              <a:t>15. Future Scope</a:t>
            </a:r>
          </a:p>
        </p:txBody>
      </p:sp>
    </p:spTree>
    <p:extLst>
      <p:ext uri="{BB962C8B-B14F-4D97-AF65-F5344CB8AC3E}">
        <p14:creationId xmlns:p14="http://schemas.microsoft.com/office/powerpoint/2010/main" val="683290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859BE1-50DC-F7F2-72B2-2E3835729D64}"/>
              </a:ext>
            </a:extLst>
          </p:cNvPr>
          <p:cNvSpPr txBox="1"/>
          <p:nvPr/>
        </p:nvSpPr>
        <p:spPr>
          <a:xfrm>
            <a:off x="4552951" y="784441"/>
            <a:ext cx="4154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rgbClr val="002060"/>
                </a:solidFill>
                <a:latin typeface="Outfit Bold"/>
              </a:rPr>
              <a:t>Abstract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AC81DB-F656-7593-C668-876AF3B9D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489" y="217186"/>
            <a:ext cx="1622445" cy="5181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434BA2B-9C44-45C3-BD45-9250B4D76FFD}"/>
              </a:ext>
            </a:extLst>
          </p:cNvPr>
          <p:cNvSpPr/>
          <p:nvPr/>
        </p:nvSpPr>
        <p:spPr>
          <a:xfrm>
            <a:off x="524482" y="1615438"/>
            <a:ext cx="11506201" cy="4467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Management System is a DBMS application used to manage software-related                   Information.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stores software, user, developer, license, version, and installation details in a centralized database.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data redundancy and improves data consistency.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secure data storage and faster information retrieval.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simplifies software tracking and license management.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è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generates reports for better software administration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3217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87FE498-B888-47BD-9551-293F83486B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56" t="16221" r="32632" b="18006"/>
          <a:stretch/>
        </p:blipFill>
        <p:spPr>
          <a:xfrm>
            <a:off x="5692396" y="679298"/>
            <a:ext cx="5489954" cy="5499403"/>
          </a:xfrm>
          <a:prstGeom prst="rect">
            <a:avLst/>
          </a:prstGeom>
        </p:spPr>
      </p:pic>
      <p:sp>
        <p:nvSpPr>
          <p:cNvPr id="24" name="Text 1">
            <a:extLst>
              <a:ext uri="{FF2B5EF4-FFF2-40B4-BE49-F238E27FC236}">
                <a16:creationId xmlns:a16="http://schemas.microsoft.com/office/drawing/2014/main" id="{101D94FA-C17B-49C8-950A-E26A0393AEC4}"/>
              </a:ext>
            </a:extLst>
          </p:cNvPr>
          <p:cNvSpPr/>
          <p:nvPr/>
        </p:nvSpPr>
        <p:spPr>
          <a:xfrm>
            <a:off x="496118" y="1912664"/>
            <a:ext cx="4722763" cy="1885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Stores software-related data in a structured database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Centralized database for software management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Reduces data redundancy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Manages users, licenses, versions and installations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Improves security and data consistency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Provides faster data retrieval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3520" indent="-223520">
              <a:lnSpc>
                <a:spcPct val="133000"/>
              </a:lnSpc>
              <a:buSzPct val="10000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Ensures data accuracy and traceability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536E16-845F-4F20-81F4-536CE8695472}"/>
              </a:ext>
            </a:extLst>
          </p:cNvPr>
          <p:cNvSpPr txBox="1"/>
          <p:nvPr/>
        </p:nvSpPr>
        <p:spPr>
          <a:xfrm>
            <a:off x="609600" y="1009650"/>
            <a:ext cx="43029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5">
                    <a:lumMod val="75000"/>
                  </a:schemeClr>
                </a:solidFill>
              </a:rPr>
              <a:t>INTRODUCTION: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7E284E-FC14-4176-F106-0661C7277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96" y="93616"/>
            <a:ext cx="1834062" cy="58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35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BF7B6F-C16D-436E-90F1-B14D1085DF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2" t="1" r="-1" b="195"/>
          <a:stretch/>
        </p:blipFill>
        <p:spPr>
          <a:xfrm>
            <a:off x="0" y="-1"/>
            <a:ext cx="12192000" cy="68861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0AB7DB-ECED-4435-B68C-D9B8E7C7F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626"/>
            <a:ext cx="1247775" cy="532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685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D43855A-E517-4B29-82EA-4321C7D352D5}"/>
              </a:ext>
            </a:extLst>
          </p:cNvPr>
          <p:cNvSpPr/>
          <p:nvPr/>
        </p:nvSpPr>
        <p:spPr>
          <a:xfrm>
            <a:off x="838201" y="1724024"/>
            <a:ext cx="4752677" cy="1608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Store structured software details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Manage users and their usage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Track versions and updates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Handle licenses and subscriptions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Generate reports for software usage and license status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Maintain data accuracy and auditability</a:t>
            </a:r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B5257A-2177-4A2C-AA12-A5ACB44E46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72" t="17262" r="28438" b="17857"/>
          <a:stretch/>
        </p:blipFill>
        <p:spPr>
          <a:xfrm>
            <a:off x="6286499" y="1447799"/>
            <a:ext cx="5529066" cy="43910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E710B28-84E3-4E36-B25C-BF962AB55A21}"/>
              </a:ext>
            </a:extLst>
          </p:cNvPr>
          <p:cNvSpPr/>
          <p:nvPr/>
        </p:nvSpPr>
        <p:spPr>
          <a:xfrm>
            <a:off x="704851" y="806016"/>
            <a:ext cx="3685624" cy="9180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5400" b="1" dirty="0">
                <a:solidFill>
                  <a:schemeClr val="accent5">
                    <a:lumMod val="50000"/>
                  </a:schemeClr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Objectives</a:t>
            </a:r>
            <a:endParaRPr lang="en-US" sz="54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EB5E7-BA8D-8A62-5377-844522141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78" y="150705"/>
            <a:ext cx="1824786" cy="58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814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6850E20-1941-48E5-8614-45C5C3BA881D}"/>
              </a:ext>
            </a:extLst>
          </p:cNvPr>
          <p:cNvSpPr/>
          <p:nvPr/>
        </p:nvSpPr>
        <p:spPr>
          <a:xfrm>
            <a:off x="-4228209" y="633606"/>
            <a:ext cx="20648418" cy="541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800" b="1" dirty="0">
                <a:solidFill>
                  <a:schemeClr val="accent1">
                    <a:lumMod val="75000"/>
                  </a:schemeClr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Entities (Tables)</a:t>
            </a:r>
            <a:endParaRPr lang="en-US" sz="48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7769CB8-CE58-4B8D-A0A4-812BE3775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28" y="1645685"/>
            <a:ext cx="1148767" cy="1148767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E3C141DE-D72F-4A5F-B9B4-EB1B8A03A588}"/>
              </a:ext>
            </a:extLst>
          </p:cNvPr>
          <p:cNvSpPr/>
          <p:nvPr/>
        </p:nvSpPr>
        <p:spPr>
          <a:xfrm>
            <a:off x="1728975" y="1834011"/>
            <a:ext cx="2977213" cy="33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Software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7CFFCAB-6CEA-4927-9094-0AEAD9E88120}"/>
              </a:ext>
            </a:extLst>
          </p:cNvPr>
          <p:cNvSpPr/>
          <p:nvPr/>
        </p:nvSpPr>
        <p:spPr>
          <a:xfrm>
            <a:off x="1731590" y="2077017"/>
            <a:ext cx="1485991" cy="6927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Core application records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CAA6D1AB-BE2D-47AF-8F1E-C3D099787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196" y="1546373"/>
            <a:ext cx="1219102" cy="1219102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C77FAEF6-1AD4-442C-AB94-6F784618D04B}"/>
              </a:ext>
            </a:extLst>
          </p:cNvPr>
          <p:cNvSpPr/>
          <p:nvPr/>
        </p:nvSpPr>
        <p:spPr>
          <a:xfrm>
            <a:off x="4828436" y="1829068"/>
            <a:ext cx="2977403" cy="33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Developer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4B2B5C5-6DB1-49CA-9EEC-F80CA7B25AE2}"/>
              </a:ext>
            </a:extLst>
          </p:cNvPr>
          <p:cNvSpPr/>
          <p:nvPr/>
        </p:nvSpPr>
        <p:spPr>
          <a:xfrm>
            <a:off x="4771371" y="1986383"/>
            <a:ext cx="1571318" cy="6927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Creator/publisher details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959B4C49-5D40-4C76-A52E-C835E3334D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109" y="1693617"/>
            <a:ext cx="947262" cy="947262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AF9FFB35-B2DA-4465-AE60-5B1C5A3A5235}"/>
              </a:ext>
            </a:extLst>
          </p:cNvPr>
          <p:cNvSpPr/>
          <p:nvPr/>
        </p:nvSpPr>
        <p:spPr>
          <a:xfrm>
            <a:off x="7603788" y="1720703"/>
            <a:ext cx="2977403" cy="33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Users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83BB3B5-FC3A-49F5-A6AC-708A30D13E00}"/>
              </a:ext>
            </a:extLst>
          </p:cNvPr>
          <p:cNvSpPr/>
          <p:nvPr/>
        </p:nvSpPr>
        <p:spPr>
          <a:xfrm>
            <a:off x="7623130" y="1949056"/>
            <a:ext cx="1350045" cy="6927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End-user information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80E3C3C4-39CD-4723-9A7B-A325CB531A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0363" y="1571271"/>
            <a:ext cx="1107836" cy="1107836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E62E102C-A114-485C-A4F7-2F6E8F640372}"/>
              </a:ext>
            </a:extLst>
          </p:cNvPr>
          <p:cNvSpPr/>
          <p:nvPr/>
        </p:nvSpPr>
        <p:spPr>
          <a:xfrm>
            <a:off x="10180635" y="1762659"/>
            <a:ext cx="2977403" cy="33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License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468D7299-C34E-43DB-81D0-3E0248B53775}"/>
              </a:ext>
            </a:extLst>
          </p:cNvPr>
          <p:cNvSpPr/>
          <p:nvPr/>
        </p:nvSpPr>
        <p:spPr>
          <a:xfrm>
            <a:off x="10200408" y="2018125"/>
            <a:ext cx="1633716" cy="6927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License type and validity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7E2ED4F3-D88E-4C7F-969D-93DD26D323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978" y="2939224"/>
            <a:ext cx="1304266" cy="1304266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CA17E213-0C0B-472B-9314-408EFD072568}"/>
              </a:ext>
            </a:extLst>
          </p:cNvPr>
          <p:cNvSpPr/>
          <p:nvPr/>
        </p:nvSpPr>
        <p:spPr>
          <a:xfrm>
            <a:off x="1662785" y="3315578"/>
            <a:ext cx="2977213" cy="33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Installation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CC290D39-3520-4CDA-9133-0462FF7A6C6E}"/>
              </a:ext>
            </a:extLst>
          </p:cNvPr>
          <p:cNvSpPr/>
          <p:nvPr/>
        </p:nvSpPr>
        <p:spPr>
          <a:xfrm>
            <a:off x="1674618" y="3561659"/>
            <a:ext cx="1398319" cy="6927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Install location and date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8" name="Image 5" descr="preencoded.png">
            <a:extLst>
              <a:ext uri="{FF2B5EF4-FFF2-40B4-BE49-F238E27FC236}">
                <a16:creationId xmlns:a16="http://schemas.microsoft.com/office/drawing/2014/main" id="{C46148AE-32C6-4200-887A-8704FD017F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41395" y="3012603"/>
            <a:ext cx="1073504" cy="1073504"/>
          </a:xfrm>
          <a:prstGeom prst="rect">
            <a:avLst/>
          </a:prstGeom>
        </p:spPr>
      </p:pic>
      <p:sp>
        <p:nvSpPr>
          <p:cNvPr id="19" name="Text 11">
            <a:extLst>
              <a:ext uri="{FF2B5EF4-FFF2-40B4-BE49-F238E27FC236}">
                <a16:creationId xmlns:a16="http://schemas.microsoft.com/office/drawing/2014/main" id="{68BCD319-F158-49FE-B506-0432BB724F2E}"/>
              </a:ext>
            </a:extLst>
          </p:cNvPr>
          <p:cNvSpPr/>
          <p:nvPr/>
        </p:nvSpPr>
        <p:spPr>
          <a:xfrm>
            <a:off x="4713293" y="3263538"/>
            <a:ext cx="2977403" cy="33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Category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C4EE5D39-2582-41D6-AEF3-8F019389AFDA}"/>
              </a:ext>
            </a:extLst>
          </p:cNvPr>
          <p:cNvSpPr/>
          <p:nvPr/>
        </p:nvSpPr>
        <p:spPr>
          <a:xfrm>
            <a:off x="4736622" y="3496199"/>
            <a:ext cx="1716380" cy="6927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Software classification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1" name="Image 6" descr="preencoded.png">
            <a:extLst>
              <a:ext uri="{FF2B5EF4-FFF2-40B4-BE49-F238E27FC236}">
                <a16:creationId xmlns:a16="http://schemas.microsoft.com/office/drawing/2014/main" id="{5DBE80A5-2606-4FFA-B433-319D224D89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2868" y="3143618"/>
            <a:ext cx="1073504" cy="1073504"/>
          </a:xfrm>
          <a:prstGeom prst="rect">
            <a:avLst/>
          </a:prstGeom>
        </p:spPr>
      </p:pic>
      <p:sp>
        <p:nvSpPr>
          <p:cNvPr id="22" name="Text 13">
            <a:extLst>
              <a:ext uri="{FF2B5EF4-FFF2-40B4-BE49-F238E27FC236}">
                <a16:creationId xmlns:a16="http://schemas.microsoft.com/office/drawing/2014/main" id="{24D96448-60D9-4DDC-9EDF-7CB79BF6D4F7}"/>
              </a:ext>
            </a:extLst>
          </p:cNvPr>
          <p:cNvSpPr/>
          <p:nvPr/>
        </p:nvSpPr>
        <p:spPr>
          <a:xfrm>
            <a:off x="7690829" y="3338071"/>
            <a:ext cx="2977403" cy="33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Version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C8AB23B6-FC40-472D-B0FC-0582DFFBF364}"/>
              </a:ext>
            </a:extLst>
          </p:cNvPr>
          <p:cNvSpPr/>
          <p:nvPr/>
        </p:nvSpPr>
        <p:spPr>
          <a:xfrm>
            <a:off x="7690830" y="3574606"/>
            <a:ext cx="1428236" cy="6927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Release and build info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4" name="Image 7" descr="preencoded.png">
            <a:extLst>
              <a:ext uri="{FF2B5EF4-FFF2-40B4-BE49-F238E27FC236}">
                <a16:creationId xmlns:a16="http://schemas.microsoft.com/office/drawing/2014/main" id="{1517FF13-CF0A-461C-9927-B4A885DA40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7566" y="3143618"/>
            <a:ext cx="1149797" cy="1149797"/>
          </a:xfrm>
          <a:prstGeom prst="rect">
            <a:avLst/>
          </a:prstGeom>
        </p:spPr>
      </p:pic>
      <p:sp>
        <p:nvSpPr>
          <p:cNvPr id="25" name="Text 15">
            <a:extLst>
              <a:ext uri="{FF2B5EF4-FFF2-40B4-BE49-F238E27FC236}">
                <a16:creationId xmlns:a16="http://schemas.microsoft.com/office/drawing/2014/main" id="{8C36E965-D455-4896-86BB-B1B430459D8B}"/>
              </a:ext>
            </a:extLst>
          </p:cNvPr>
          <p:cNvSpPr/>
          <p:nvPr/>
        </p:nvSpPr>
        <p:spPr>
          <a:xfrm>
            <a:off x="10396320" y="3363377"/>
            <a:ext cx="2977403" cy="33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Feedback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Text 16">
            <a:extLst>
              <a:ext uri="{FF2B5EF4-FFF2-40B4-BE49-F238E27FC236}">
                <a16:creationId xmlns:a16="http://schemas.microsoft.com/office/drawing/2014/main" id="{BA5D5B34-4631-42AA-B2EB-8119F8A953F9}"/>
              </a:ext>
            </a:extLst>
          </p:cNvPr>
          <p:cNvSpPr/>
          <p:nvPr/>
        </p:nvSpPr>
        <p:spPr>
          <a:xfrm>
            <a:off x="10429176" y="3575041"/>
            <a:ext cx="1302902" cy="6927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User reviews and ratings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7" name="Image 8" descr="preencoded.png">
            <a:extLst>
              <a:ext uri="{FF2B5EF4-FFF2-40B4-BE49-F238E27FC236}">
                <a16:creationId xmlns:a16="http://schemas.microsoft.com/office/drawing/2014/main" id="{84BC56AC-6BD1-49FC-A301-DCF9BE26FF6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6978" y="4606200"/>
            <a:ext cx="1294984" cy="1294984"/>
          </a:xfrm>
          <a:prstGeom prst="rect">
            <a:avLst/>
          </a:prstGeom>
        </p:spPr>
      </p:pic>
      <p:sp>
        <p:nvSpPr>
          <p:cNvPr id="28" name="Text 17">
            <a:extLst>
              <a:ext uri="{FF2B5EF4-FFF2-40B4-BE49-F238E27FC236}">
                <a16:creationId xmlns:a16="http://schemas.microsoft.com/office/drawing/2014/main" id="{66F2AB6D-47D2-45C7-B54B-7A1C20172BEE}"/>
              </a:ext>
            </a:extLst>
          </p:cNvPr>
          <p:cNvSpPr/>
          <p:nvPr/>
        </p:nvSpPr>
        <p:spPr>
          <a:xfrm>
            <a:off x="1662784" y="5084602"/>
            <a:ext cx="2977213" cy="33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Bug_Report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B54909AD-3885-4E6D-9076-D5E284B8F2E4}"/>
              </a:ext>
            </a:extLst>
          </p:cNvPr>
          <p:cNvSpPr/>
          <p:nvPr/>
        </p:nvSpPr>
        <p:spPr>
          <a:xfrm>
            <a:off x="1616420" y="5284802"/>
            <a:ext cx="1761208" cy="6927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Issues and status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0" name="Image 9" descr="preencoded.png">
            <a:extLst>
              <a:ext uri="{FF2B5EF4-FFF2-40B4-BE49-F238E27FC236}">
                <a16:creationId xmlns:a16="http://schemas.microsoft.com/office/drawing/2014/main" id="{10213454-D50E-41AE-8CD0-0B4BD0B40D8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1395" y="4671708"/>
            <a:ext cx="1073504" cy="1073504"/>
          </a:xfrm>
          <a:prstGeom prst="rect">
            <a:avLst/>
          </a:prstGeom>
        </p:spPr>
      </p:pic>
      <p:sp>
        <p:nvSpPr>
          <p:cNvPr id="31" name="Text 19">
            <a:extLst>
              <a:ext uri="{FF2B5EF4-FFF2-40B4-BE49-F238E27FC236}">
                <a16:creationId xmlns:a16="http://schemas.microsoft.com/office/drawing/2014/main" id="{CB05B782-F796-4404-A6F6-5203E5F15F51}"/>
              </a:ext>
            </a:extLst>
          </p:cNvPr>
          <p:cNvSpPr/>
          <p:nvPr/>
        </p:nvSpPr>
        <p:spPr>
          <a:xfrm>
            <a:off x="4713293" y="4951597"/>
            <a:ext cx="2977403" cy="338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Subscription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E78B6B63-E73D-4984-B926-C4FEC7A9CF41}"/>
              </a:ext>
            </a:extLst>
          </p:cNvPr>
          <p:cNvSpPr/>
          <p:nvPr/>
        </p:nvSpPr>
        <p:spPr>
          <a:xfrm>
            <a:off x="4713294" y="5208460"/>
            <a:ext cx="1850998" cy="6927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Plans and renewal details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D43239D-7DA0-9204-4252-6CF583B41AB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6794" y="65801"/>
            <a:ext cx="1759694" cy="56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978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02DA9A-B40B-B36F-1B8F-05114149E2AD}"/>
              </a:ext>
            </a:extLst>
          </p:cNvPr>
          <p:cNvSpPr txBox="1"/>
          <p:nvPr/>
        </p:nvSpPr>
        <p:spPr>
          <a:xfrm>
            <a:off x="4486962" y="771525"/>
            <a:ext cx="27494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b="1" dirty="0">
                <a:solidFill>
                  <a:srgbClr val="002060"/>
                </a:solidFill>
                <a:ea typeface="Outfit Bold"/>
              </a:rPr>
              <a:t>Attributes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E32FEA-B3AB-6F5A-5D7C-4D7087F92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51" y="155591"/>
            <a:ext cx="1869141" cy="5968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FCF97B3-4B4D-4EBE-8E21-E8B5FFED3411}"/>
              </a:ext>
            </a:extLst>
          </p:cNvPr>
          <p:cNvSpPr/>
          <p:nvPr/>
        </p:nvSpPr>
        <p:spPr>
          <a:xfrm>
            <a:off x="824997" y="1837657"/>
            <a:ext cx="1700337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Software </a:t>
            </a:r>
          </a:p>
          <a:p>
            <a:r>
              <a:rPr lang="en-US" dirty="0"/>
              <a:t>Software_ID</a:t>
            </a:r>
          </a:p>
          <a:p>
            <a:r>
              <a:rPr lang="en-US" dirty="0"/>
              <a:t>Software_Name</a:t>
            </a:r>
          </a:p>
          <a:p>
            <a:r>
              <a:rPr lang="en-US" dirty="0"/>
              <a:t>Version</a:t>
            </a:r>
          </a:p>
          <a:p>
            <a:r>
              <a:rPr lang="en-US" dirty="0"/>
              <a:t>Category</a:t>
            </a:r>
          </a:p>
          <a:p>
            <a:r>
              <a:rPr lang="en-US" dirty="0"/>
              <a:t>Developer_ID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352603-B17E-465F-AAAE-8AC93C1EA8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572908"/>
              </p:ext>
            </p:extLst>
          </p:nvPr>
        </p:nvGraphicFramePr>
        <p:xfrm>
          <a:off x="542242" y="1850320"/>
          <a:ext cx="1920586" cy="1812576"/>
        </p:xfrm>
        <a:graphic>
          <a:graphicData uri="http://schemas.openxmlformats.org/drawingml/2006/table">
            <a:tbl>
              <a:tblPr/>
              <a:tblGrid>
                <a:gridCol w="1920586">
                  <a:extLst>
                    <a:ext uri="{9D8B030D-6E8A-4147-A177-3AD203B41FA5}">
                      <a16:colId xmlns:a16="http://schemas.microsoft.com/office/drawing/2014/main" val="2553488126"/>
                    </a:ext>
                  </a:extLst>
                </a:gridCol>
              </a:tblGrid>
              <a:tr h="1812576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    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072988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CC74D9B-0DB8-43D1-80F5-80AED6ADFEEF}"/>
              </a:ext>
            </a:extLst>
          </p:cNvPr>
          <p:cNvSpPr/>
          <p:nvPr/>
        </p:nvSpPr>
        <p:spPr>
          <a:xfrm>
            <a:off x="3105150" y="1897708"/>
            <a:ext cx="21240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Developer</a:t>
            </a:r>
          </a:p>
          <a:p>
            <a:r>
              <a:rPr lang="en-US" dirty="0"/>
              <a:t>Developer_ID</a:t>
            </a:r>
          </a:p>
          <a:p>
            <a:r>
              <a:rPr lang="en-US" dirty="0"/>
              <a:t>Developer_Name</a:t>
            </a:r>
          </a:p>
          <a:p>
            <a:r>
              <a:rPr lang="en-US" dirty="0"/>
              <a:t>Company</a:t>
            </a:r>
          </a:p>
          <a:p>
            <a:r>
              <a:rPr lang="en-US" dirty="0"/>
              <a:t>Email</a:t>
            </a:r>
          </a:p>
          <a:p>
            <a:r>
              <a:rPr lang="en-US" dirty="0"/>
              <a:t>Contact_No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8CDBBF8-3549-46C4-9358-643BAE98F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175345"/>
              </p:ext>
            </p:extLst>
          </p:nvPr>
        </p:nvGraphicFramePr>
        <p:xfrm>
          <a:off x="3011648" y="1897155"/>
          <a:ext cx="2139195" cy="1784003"/>
        </p:xfrm>
        <a:graphic>
          <a:graphicData uri="http://schemas.openxmlformats.org/drawingml/2006/table">
            <a:tbl>
              <a:tblPr/>
              <a:tblGrid>
                <a:gridCol w="2139195">
                  <a:extLst>
                    <a:ext uri="{9D8B030D-6E8A-4147-A177-3AD203B41FA5}">
                      <a16:colId xmlns:a16="http://schemas.microsoft.com/office/drawing/2014/main" val="2343635347"/>
                    </a:ext>
                  </a:extLst>
                </a:gridCol>
              </a:tblGrid>
              <a:tr h="178400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733230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BF27EA7C-6C15-4DEA-BB59-841B3B3C82CA}"/>
              </a:ext>
            </a:extLst>
          </p:cNvPr>
          <p:cNvSpPr/>
          <p:nvPr/>
        </p:nvSpPr>
        <p:spPr>
          <a:xfrm>
            <a:off x="5640170" y="1910296"/>
            <a:ext cx="1328697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User</a:t>
            </a:r>
          </a:p>
          <a:p>
            <a:r>
              <a:rPr lang="en-US" dirty="0"/>
              <a:t>User_ID</a:t>
            </a:r>
          </a:p>
          <a:p>
            <a:r>
              <a:rPr lang="en-US" dirty="0"/>
              <a:t>User_Name</a:t>
            </a:r>
          </a:p>
          <a:p>
            <a:r>
              <a:rPr lang="en-US" dirty="0"/>
              <a:t>Email</a:t>
            </a:r>
          </a:p>
          <a:p>
            <a:r>
              <a:rPr lang="en-US" dirty="0"/>
              <a:t>Phone_No.</a:t>
            </a:r>
          </a:p>
          <a:p>
            <a:r>
              <a:rPr lang="en-US" dirty="0"/>
              <a:t>Department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C3B233B-1518-4DB5-BF20-EB3687B9B9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601930"/>
              </p:ext>
            </p:extLst>
          </p:nvPr>
        </p:nvGraphicFramePr>
        <p:xfrm>
          <a:off x="5569084" y="1886218"/>
          <a:ext cx="1548037" cy="1784003"/>
        </p:xfrm>
        <a:graphic>
          <a:graphicData uri="http://schemas.openxmlformats.org/drawingml/2006/table">
            <a:tbl>
              <a:tblPr/>
              <a:tblGrid>
                <a:gridCol w="1548037">
                  <a:extLst>
                    <a:ext uri="{9D8B030D-6E8A-4147-A177-3AD203B41FA5}">
                      <a16:colId xmlns:a16="http://schemas.microsoft.com/office/drawing/2014/main" val="3383273472"/>
                    </a:ext>
                  </a:extLst>
                </a:gridCol>
              </a:tblGrid>
              <a:tr h="178400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7774575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3FD71B0-2778-4448-9AB6-EB652ECC6BA8}"/>
              </a:ext>
            </a:extLst>
          </p:cNvPr>
          <p:cNvSpPr/>
          <p:nvPr/>
        </p:nvSpPr>
        <p:spPr>
          <a:xfrm>
            <a:off x="7556010" y="1919001"/>
            <a:ext cx="160044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License</a:t>
            </a:r>
          </a:p>
          <a:p>
            <a:r>
              <a:rPr lang="en-US" dirty="0"/>
              <a:t>License_ID</a:t>
            </a:r>
          </a:p>
          <a:p>
            <a:r>
              <a:rPr lang="en-US" dirty="0"/>
              <a:t>License_Type</a:t>
            </a:r>
          </a:p>
          <a:p>
            <a:r>
              <a:rPr lang="en-US" dirty="0"/>
              <a:t>Issue_Date</a:t>
            </a:r>
          </a:p>
          <a:p>
            <a:r>
              <a:rPr lang="en-US" dirty="0"/>
              <a:t>Expiry_Date</a:t>
            </a:r>
          </a:p>
          <a:p>
            <a:r>
              <a:rPr lang="en-US" dirty="0"/>
              <a:t>Status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D67CAB9-80BE-4843-B125-811835FCFC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360741"/>
              </p:ext>
            </p:extLst>
          </p:nvPr>
        </p:nvGraphicFramePr>
        <p:xfrm>
          <a:off x="7500570" y="1902379"/>
          <a:ext cx="1895475" cy="1748365"/>
        </p:xfrm>
        <a:graphic>
          <a:graphicData uri="http://schemas.openxmlformats.org/drawingml/2006/table">
            <a:tbl>
              <a:tblPr/>
              <a:tblGrid>
                <a:gridCol w="1895475">
                  <a:extLst>
                    <a:ext uri="{9D8B030D-6E8A-4147-A177-3AD203B41FA5}">
                      <a16:colId xmlns:a16="http://schemas.microsoft.com/office/drawing/2014/main" val="587075909"/>
                    </a:ext>
                  </a:extLst>
                </a:gridCol>
              </a:tblGrid>
              <a:tr h="174836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0467525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59A9B1E4-93BF-4921-9D4F-E30D1DF8D1B8}"/>
              </a:ext>
            </a:extLst>
          </p:cNvPr>
          <p:cNvSpPr/>
          <p:nvPr/>
        </p:nvSpPr>
        <p:spPr>
          <a:xfrm>
            <a:off x="9678800" y="1910296"/>
            <a:ext cx="1663661" cy="1752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Installation</a:t>
            </a:r>
          </a:p>
          <a:p>
            <a:r>
              <a:rPr lang="en-US" dirty="0"/>
              <a:t>Installation_ID</a:t>
            </a:r>
          </a:p>
          <a:p>
            <a:r>
              <a:rPr lang="en-US" dirty="0"/>
              <a:t>Software_ID</a:t>
            </a:r>
          </a:p>
          <a:p>
            <a:r>
              <a:rPr lang="en-US" dirty="0"/>
              <a:t>User_ID</a:t>
            </a:r>
          </a:p>
          <a:p>
            <a:r>
              <a:rPr lang="en-US" dirty="0"/>
              <a:t>Install_Date</a:t>
            </a:r>
          </a:p>
          <a:p>
            <a:r>
              <a:rPr lang="en-US" dirty="0"/>
              <a:t>Device_Name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FD7703-C0DF-410A-9A47-435903615753}"/>
              </a:ext>
            </a:extLst>
          </p:cNvPr>
          <p:cNvSpPr/>
          <p:nvPr/>
        </p:nvSpPr>
        <p:spPr>
          <a:xfrm>
            <a:off x="3054567" y="4347346"/>
            <a:ext cx="1696042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Category</a:t>
            </a:r>
          </a:p>
          <a:p>
            <a:r>
              <a:rPr lang="en-US" dirty="0"/>
              <a:t>Category_ID</a:t>
            </a:r>
          </a:p>
          <a:p>
            <a:r>
              <a:rPr lang="en-US" dirty="0"/>
              <a:t>Category_Name</a:t>
            </a:r>
          </a:p>
          <a:p>
            <a:r>
              <a:rPr lang="en-US" dirty="0"/>
              <a:t>Description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BE302B-ABD6-43E9-87DB-221ABC6030AA}"/>
              </a:ext>
            </a:extLst>
          </p:cNvPr>
          <p:cNvSpPr/>
          <p:nvPr/>
        </p:nvSpPr>
        <p:spPr>
          <a:xfrm>
            <a:off x="802375" y="4308316"/>
            <a:ext cx="177061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Version</a:t>
            </a:r>
          </a:p>
          <a:p>
            <a:r>
              <a:rPr lang="en-US" dirty="0"/>
              <a:t>Version_ID</a:t>
            </a:r>
          </a:p>
          <a:p>
            <a:r>
              <a:rPr lang="en-US" dirty="0"/>
              <a:t>Version_Number</a:t>
            </a:r>
          </a:p>
          <a:p>
            <a:r>
              <a:rPr lang="en-US" dirty="0"/>
              <a:t>Release_Date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12C469-80E2-446A-A319-B6E48DA5E350}"/>
              </a:ext>
            </a:extLst>
          </p:cNvPr>
          <p:cNvSpPr/>
          <p:nvPr/>
        </p:nvSpPr>
        <p:spPr>
          <a:xfrm>
            <a:off x="5714407" y="4399137"/>
            <a:ext cx="14027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Feedback</a:t>
            </a:r>
          </a:p>
          <a:p>
            <a:r>
              <a:rPr lang="en-US" dirty="0"/>
              <a:t>Feedback_ID</a:t>
            </a:r>
          </a:p>
          <a:p>
            <a:r>
              <a:rPr lang="en-US" dirty="0"/>
              <a:t>Rating</a:t>
            </a:r>
          </a:p>
          <a:p>
            <a:r>
              <a:rPr lang="en-US" dirty="0"/>
              <a:t>Comments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3C3247-AAE7-469A-B3C6-84D0438F0B4D}"/>
              </a:ext>
            </a:extLst>
          </p:cNvPr>
          <p:cNvSpPr/>
          <p:nvPr/>
        </p:nvSpPr>
        <p:spPr>
          <a:xfrm>
            <a:off x="7550115" y="4351926"/>
            <a:ext cx="172893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Bug_Report</a:t>
            </a:r>
          </a:p>
          <a:p>
            <a:r>
              <a:rPr lang="en-US" dirty="0"/>
              <a:t>Bug_ID</a:t>
            </a:r>
          </a:p>
          <a:p>
            <a:r>
              <a:rPr lang="en-US" dirty="0"/>
              <a:t>Bug_Description</a:t>
            </a:r>
          </a:p>
          <a:p>
            <a:r>
              <a:rPr lang="en-US" dirty="0"/>
              <a:t>Status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CBEF7A-ECA5-49EC-BFF4-FF3AB17A6306}"/>
              </a:ext>
            </a:extLst>
          </p:cNvPr>
          <p:cNvSpPr/>
          <p:nvPr/>
        </p:nvSpPr>
        <p:spPr>
          <a:xfrm>
            <a:off x="9671970" y="4226960"/>
            <a:ext cx="1663661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Subscription</a:t>
            </a:r>
          </a:p>
          <a:p>
            <a:r>
              <a:rPr lang="en-US" dirty="0"/>
              <a:t>Subscription_ID</a:t>
            </a:r>
          </a:p>
          <a:p>
            <a:r>
              <a:rPr lang="en-US" dirty="0"/>
              <a:t>Plan_Name</a:t>
            </a:r>
          </a:p>
          <a:p>
            <a:r>
              <a:rPr lang="en-US" dirty="0"/>
              <a:t>Start_Date</a:t>
            </a:r>
          </a:p>
          <a:p>
            <a:r>
              <a:rPr lang="en-US" dirty="0"/>
              <a:t>End_Date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CBB3F910-720E-488B-83F8-B4159B1C6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376360"/>
              </p:ext>
            </p:extLst>
          </p:nvPr>
        </p:nvGraphicFramePr>
        <p:xfrm>
          <a:off x="9670542" y="1910296"/>
          <a:ext cx="1719083" cy="1784004"/>
        </p:xfrm>
        <a:graphic>
          <a:graphicData uri="http://schemas.openxmlformats.org/drawingml/2006/table">
            <a:tbl>
              <a:tblPr/>
              <a:tblGrid>
                <a:gridCol w="1719083">
                  <a:extLst>
                    <a:ext uri="{9D8B030D-6E8A-4147-A177-3AD203B41FA5}">
                      <a16:colId xmlns:a16="http://schemas.microsoft.com/office/drawing/2014/main" val="3848571346"/>
                    </a:ext>
                  </a:extLst>
                </a:gridCol>
              </a:tblGrid>
              <a:tr h="178400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85303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EB743B2-7096-4945-8A35-66186ACBD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034194"/>
              </p:ext>
            </p:extLst>
          </p:nvPr>
        </p:nvGraphicFramePr>
        <p:xfrm>
          <a:off x="715584" y="4296380"/>
          <a:ext cx="1857404" cy="1392115"/>
        </p:xfrm>
        <a:graphic>
          <a:graphicData uri="http://schemas.openxmlformats.org/drawingml/2006/table">
            <a:tbl>
              <a:tblPr/>
              <a:tblGrid>
                <a:gridCol w="1857404">
                  <a:extLst>
                    <a:ext uri="{9D8B030D-6E8A-4147-A177-3AD203B41FA5}">
                      <a16:colId xmlns:a16="http://schemas.microsoft.com/office/drawing/2014/main" val="156210310"/>
                    </a:ext>
                  </a:extLst>
                </a:gridCol>
              </a:tblGrid>
              <a:tr h="139211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933585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B15E295-F360-4254-B9CC-290D37A82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824309"/>
              </p:ext>
            </p:extLst>
          </p:nvPr>
        </p:nvGraphicFramePr>
        <p:xfrm>
          <a:off x="5569084" y="4286998"/>
          <a:ext cx="1597384" cy="1381769"/>
        </p:xfrm>
        <a:graphic>
          <a:graphicData uri="http://schemas.openxmlformats.org/drawingml/2006/table">
            <a:tbl>
              <a:tblPr/>
              <a:tblGrid>
                <a:gridCol w="1597384">
                  <a:extLst>
                    <a:ext uri="{9D8B030D-6E8A-4147-A177-3AD203B41FA5}">
                      <a16:colId xmlns:a16="http://schemas.microsoft.com/office/drawing/2014/main" val="785518106"/>
                    </a:ext>
                  </a:extLst>
                </a:gridCol>
              </a:tblGrid>
              <a:tr h="138176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213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41D8761-F6B0-4CDF-AA06-15C0054D3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9678990"/>
              </p:ext>
            </p:extLst>
          </p:nvPr>
        </p:nvGraphicFramePr>
        <p:xfrm>
          <a:off x="9617975" y="4257798"/>
          <a:ext cx="1771650" cy="1494339"/>
        </p:xfrm>
        <a:graphic>
          <a:graphicData uri="http://schemas.openxmlformats.org/drawingml/2006/table">
            <a:tbl>
              <a:tblPr/>
              <a:tblGrid>
                <a:gridCol w="1771650">
                  <a:extLst>
                    <a:ext uri="{9D8B030D-6E8A-4147-A177-3AD203B41FA5}">
                      <a16:colId xmlns:a16="http://schemas.microsoft.com/office/drawing/2014/main" val="3613944513"/>
                    </a:ext>
                  </a:extLst>
                </a:gridCol>
              </a:tblGrid>
              <a:tr h="149433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125771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DC68E49-ABAB-4B77-907E-81F854051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892862"/>
              </p:ext>
            </p:extLst>
          </p:nvPr>
        </p:nvGraphicFramePr>
        <p:xfrm>
          <a:off x="3001439" y="4286998"/>
          <a:ext cx="2139194" cy="1392115"/>
        </p:xfrm>
        <a:graphic>
          <a:graphicData uri="http://schemas.openxmlformats.org/drawingml/2006/table">
            <a:tbl>
              <a:tblPr/>
              <a:tblGrid>
                <a:gridCol w="2139194">
                  <a:extLst>
                    <a:ext uri="{9D8B030D-6E8A-4147-A177-3AD203B41FA5}">
                      <a16:colId xmlns:a16="http://schemas.microsoft.com/office/drawing/2014/main" val="3335231684"/>
                    </a:ext>
                  </a:extLst>
                </a:gridCol>
              </a:tblGrid>
              <a:tr h="1392115">
                <a:tc>
                  <a:txBody>
                    <a:bodyPr/>
                    <a:lstStyle/>
                    <a:p>
                      <a:endParaRPr lang="en-US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083129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ED27BCED-E56C-4AFF-9A6B-4D37E5764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51382"/>
              </p:ext>
            </p:extLst>
          </p:nvPr>
        </p:nvGraphicFramePr>
        <p:xfrm>
          <a:off x="7500570" y="4257798"/>
          <a:ext cx="1895475" cy="1421315"/>
        </p:xfrm>
        <a:graphic>
          <a:graphicData uri="http://schemas.openxmlformats.org/drawingml/2006/table">
            <a:tbl>
              <a:tblPr/>
              <a:tblGrid>
                <a:gridCol w="1895475">
                  <a:extLst>
                    <a:ext uri="{9D8B030D-6E8A-4147-A177-3AD203B41FA5}">
                      <a16:colId xmlns:a16="http://schemas.microsoft.com/office/drawing/2014/main" val="2773117765"/>
                    </a:ext>
                  </a:extLst>
                </a:gridCol>
              </a:tblGrid>
              <a:tr h="142131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52757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C634D86-15A7-43EC-A144-09340CE6AD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817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BBA6B2-9FE2-4949-9DF1-E371D805B1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69" t="7292" r="15469" b="5356"/>
          <a:stretch/>
        </p:blipFill>
        <p:spPr>
          <a:xfrm>
            <a:off x="1066799" y="219074"/>
            <a:ext cx="9877426" cy="65588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594C6D-2FD3-454E-A06B-A96D9389B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51" y="155591"/>
            <a:ext cx="1869141" cy="5968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F893B7-1C32-4D1E-BEAE-03E7FE84C8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C9AF5D-C291-49E6-8708-0C36007A5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1" y="125773"/>
            <a:ext cx="1869139" cy="59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210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154658" y="183654"/>
            <a:ext cx="320626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4000" dirty="0">
                <a:solidFill>
                  <a:schemeClr val="accent1">
                    <a:lumMod val="50000"/>
                  </a:schemeClr>
                </a:solidFill>
              </a:rPr>
              <a:t>Normalization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96484"/>
            <a:ext cx="857087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</a:defRPr>
            </a:pPr>
            <a:r>
              <a:rPr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Organizing data to reduce redundancy and improve consistency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2461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68680" y="2082820"/>
            <a:ext cx="2788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4E79"/>
                </a:solidFill>
              </a:defRPr>
            </a:pPr>
            <a:r>
              <a:rPr dirty="0"/>
              <a:t>Why Normalize?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85740"/>
            <a:ext cx="2788920" cy="1918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"/>
              <a:defRPr sz="1700"/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duplicate data in multiple tables.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"/>
              <a:defRPr sz="1700"/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update, insertion, and deletion anomalies.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"/>
              <a:defRPr sz="1700"/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relationships between entities clearer.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600200"/>
            <a:ext cx="32461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343400" y="2051576"/>
            <a:ext cx="2788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4E79"/>
                </a:solidFill>
              </a:defRPr>
            </a:pPr>
            <a:r>
              <a:rPr dirty="0"/>
              <a:t>Normal 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585740"/>
            <a:ext cx="2788920" cy="2180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"/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1NF: Each field contains atomic values.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"/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2NF: 1NF + no partial dependency on a composite key.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"/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3NF: 2NF + no transitive dependency.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600200"/>
            <a:ext cx="32461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7932420" y="2082820"/>
            <a:ext cx="2788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4E79"/>
                </a:solidFill>
              </a:defRPr>
            </a:pPr>
            <a:r>
              <a:rPr dirty="0"/>
              <a:t>In Our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554496"/>
            <a:ext cx="2788920" cy="2703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"/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Software, Developer, User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License, Version, and other entities are separated.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"/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Keys connect related tables.</a:t>
            </a:r>
          </a:p>
          <a:p>
            <a:pPr marL="285750" indent="-285750">
              <a:spcAft>
                <a:spcPts val="1000"/>
              </a:spcAft>
              <a:buFont typeface="Wingdings" panose="05000000000000000000" pitchFamily="2" charset="2"/>
              <a:buChar char=""/>
              <a:defRPr sz="17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supports accurate and maintainable software records.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D19F37F-EA1C-430F-8144-A03182962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51" y="155591"/>
            <a:ext cx="1869141" cy="5968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70248" y="248031"/>
            <a:ext cx="247696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1F4E79"/>
                </a:solidFill>
              </a:defRPr>
            </a:pPr>
            <a:r>
              <a:rPr sz="3200" dirty="0">
                <a:latin typeface="Elephant" panose="02020904090505020303" pitchFamily="18" charset="0"/>
              </a:rPr>
              <a:t>Commands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051560"/>
            <a:ext cx="3657600" cy="5257800"/>
          </a:xfrm>
          <a:prstGeom prst="rect">
            <a:avLst/>
          </a:prstGeom>
          <a:solidFill>
            <a:srgbClr val="F8FAFC"/>
          </a:solidFill>
          <a:ln>
            <a:solidFill>
              <a:srgbClr val="2D9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365759" y="1097280"/>
            <a:ext cx="3566160" cy="566928"/>
          </a:xfrm>
          <a:prstGeom prst="rect">
            <a:avLst/>
          </a:prstGeom>
          <a:solidFill>
            <a:srgbClr val="2D91CD"/>
          </a:solidFill>
          <a:ln>
            <a:solidFill>
              <a:srgbClr val="2D9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84632" y="1170432"/>
            <a:ext cx="3261599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 – Data Definition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83080"/>
            <a:ext cx="2648482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C3C3C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create the database and tables.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" y="2468880"/>
            <a:ext cx="3310128" cy="3154680"/>
          </a:xfrm>
          <a:prstGeom prst="rect">
            <a:avLst/>
          </a:prstGeom>
          <a:solidFill>
            <a:srgbClr val="FFFFFF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594359" y="2606040"/>
            <a:ext cx="3063240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sz="1050" dirty="0"/>
              <a:t>CREATE DATABASE </a:t>
            </a:r>
            <a:r>
              <a:rPr sz="1050" dirty="0" err="1"/>
              <a:t>SoftwareManagementSystem</a:t>
            </a:r>
            <a:r>
              <a:rPr sz="1050" dirty="0"/>
              <a:t>;</a:t>
            </a:r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sz="1050" dirty="0"/>
              <a:t>USE </a:t>
            </a:r>
            <a:r>
              <a:rPr sz="1050" dirty="0" err="1"/>
              <a:t>SoftwareManagementSystem</a:t>
            </a:r>
            <a:r>
              <a:rPr sz="1050" dirty="0"/>
              <a:t>;</a:t>
            </a:r>
            <a:endParaRPr lang="en-IN" sz="1050" dirty="0"/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endParaRPr lang="en-IN" sz="1050" dirty="0"/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lang="en-US" sz="1050" dirty="0"/>
              <a:t>CREATE TABLE Users</a:t>
            </a:r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lang="en-US" sz="1050" dirty="0"/>
              <a:t>(</a:t>
            </a:r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lang="en-US" sz="1050" dirty="0"/>
              <a:t>    User_ID INT PRIMARY KEY AUTO_INCREMENT,</a:t>
            </a:r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lang="en-US" sz="1050" dirty="0"/>
              <a:t>    User_Name VARCHAR(100) NOT NULL,</a:t>
            </a:r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lang="en-US" sz="1050" dirty="0"/>
              <a:t>    Email VARCHAR(100) UNIQUE,</a:t>
            </a:r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lang="en-US" sz="1050" dirty="0"/>
              <a:t>    Phone_Number VARCHAR(15),</a:t>
            </a:r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lang="en-US" sz="1050" dirty="0"/>
              <a:t>    Department VARCHAR(100)</a:t>
            </a:r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lang="en-US" sz="1050" dirty="0"/>
              <a:t>);</a:t>
            </a:r>
            <a:endParaRPr lang="en-IN" sz="1050" dirty="0"/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endParaRPr sz="1050" dirty="0"/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endParaRPr sz="1050" dirty="0"/>
          </a:p>
        </p:txBody>
      </p:sp>
      <p:sp>
        <p:nvSpPr>
          <p:cNvPr id="9" name="TextBox 8"/>
          <p:cNvSpPr txBox="1"/>
          <p:nvPr/>
        </p:nvSpPr>
        <p:spPr>
          <a:xfrm>
            <a:off x="526440" y="5760720"/>
            <a:ext cx="3244799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2D91CD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DDL: CREATE DATABASE, CREATE TABLE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87368" y="1051560"/>
            <a:ext cx="3657600" cy="5257800"/>
          </a:xfrm>
          <a:prstGeom prst="rect">
            <a:avLst/>
          </a:prstGeom>
          <a:solidFill>
            <a:srgbClr val="F8FAFC"/>
          </a:solidFill>
          <a:ln>
            <a:solidFill>
              <a:srgbClr val="37A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133087" y="1097280"/>
            <a:ext cx="3566160" cy="566928"/>
          </a:xfrm>
          <a:prstGeom prst="rect">
            <a:avLst/>
          </a:prstGeom>
          <a:solidFill>
            <a:srgbClr val="37AF69"/>
          </a:solidFill>
          <a:ln>
            <a:solidFill>
              <a:srgbClr val="37AF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116700" y="1180332"/>
            <a:ext cx="3651128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 – Data Manipulation Language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1783080"/>
            <a:ext cx="2619628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C3C3C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insert, update and delete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2468880"/>
            <a:ext cx="3310128" cy="3154680"/>
          </a:xfrm>
          <a:prstGeom prst="rect">
            <a:avLst/>
          </a:prstGeom>
          <a:solidFill>
            <a:srgbClr val="FFFFFF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4361688" y="2606040"/>
            <a:ext cx="3063240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sz="1050" dirty="0"/>
              <a:t>INSERT INTO Software</a:t>
            </a:r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sz="1050" dirty="0"/>
              <a:t>(</a:t>
            </a:r>
            <a:r>
              <a:rPr sz="1050" dirty="0" err="1"/>
              <a:t>Software_Name</a:t>
            </a:r>
            <a:r>
              <a:rPr sz="1050" dirty="0"/>
              <a:t>, </a:t>
            </a:r>
            <a:r>
              <a:rPr sz="1050" dirty="0" err="1"/>
              <a:t>Category_ID</a:t>
            </a:r>
            <a:r>
              <a:rPr sz="1050" dirty="0"/>
              <a:t>, </a:t>
            </a:r>
            <a:r>
              <a:rPr sz="1050" dirty="0" err="1"/>
              <a:t>Developer_ID</a:t>
            </a:r>
            <a:r>
              <a:rPr sz="1050" dirty="0"/>
              <a:t>)</a:t>
            </a:r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sz="1050" dirty="0"/>
              <a:t>VALUES ('Microsoft PowerPoint', 3, 1);</a:t>
            </a:r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endParaRPr sz="1050" dirty="0"/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sz="1050" dirty="0"/>
              <a:t>UPDATE License</a:t>
            </a:r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sz="1050" dirty="0"/>
              <a:t>SET Status = 'Expired'</a:t>
            </a:r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sz="1050" dirty="0"/>
              <a:t>WHERE </a:t>
            </a:r>
            <a:r>
              <a:rPr sz="1050" dirty="0" err="1"/>
              <a:t>Expiry_Date</a:t>
            </a:r>
            <a:r>
              <a:rPr sz="1050" dirty="0"/>
              <a:t> &lt; CURRENT_DATE;</a:t>
            </a:r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endParaRPr sz="1050" dirty="0"/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sz="1050" dirty="0"/>
              <a:t>DELETE FROM </a:t>
            </a:r>
            <a:r>
              <a:rPr sz="1050" dirty="0" err="1"/>
              <a:t>Bug_Report</a:t>
            </a:r>
            <a:endParaRPr sz="1050" dirty="0"/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sz="1050" dirty="0"/>
              <a:t>WHERE </a:t>
            </a:r>
            <a:r>
              <a:rPr sz="1050" dirty="0" err="1"/>
              <a:t>Bug_ID</a:t>
            </a:r>
            <a:r>
              <a:rPr sz="1050" dirty="0"/>
              <a:t> = 5</a:t>
            </a:r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sz="1050" dirty="0"/>
              <a:t>AND Status = 'Resolved';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261" y="5760720"/>
            <a:ext cx="2505814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37AF6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DML: INSERT, UPDATE, DELETE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54696" y="1051560"/>
            <a:ext cx="3657600" cy="5257800"/>
          </a:xfrm>
          <a:prstGeom prst="rect">
            <a:avLst/>
          </a:prstGeom>
          <a:solidFill>
            <a:srgbClr val="F8FAFC"/>
          </a:solidFill>
          <a:ln>
            <a:solidFill>
              <a:srgbClr val="4E4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7900416" y="1097280"/>
            <a:ext cx="3566160" cy="566928"/>
          </a:xfrm>
          <a:prstGeom prst="rect">
            <a:avLst/>
          </a:prstGeom>
          <a:solidFill>
            <a:srgbClr val="4E49AA"/>
          </a:solidFill>
          <a:ln>
            <a:solidFill>
              <a:srgbClr val="4E4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8019288" y="1170432"/>
            <a:ext cx="3050900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DCL – Data Control 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7575" y="1783080"/>
            <a:ext cx="3113353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C3C3C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control database users and privileges.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19288" y="2468880"/>
            <a:ext cx="3303136" cy="3218688"/>
          </a:xfrm>
          <a:prstGeom prst="rect">
            <a:avLst/>
          </a:prstGeom>
          <a:solidFill>
            <a:srgbClr val="FFFFFF"/>
          </a:solidFill>
          <a:ln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8083294" y="2449573"/>
            <a:ext cx="3021913" cy="3257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lang="en-IN" sz="1050" dirty="0"/>
              <a:t>CREATE USER 'project_user'@'localhost'</a:t>
            </a:r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lang="en-IN" sz="1050" dirty="0"/>
              <a:t>IDENTIFIED BY 'Project@123';</a:t>
            </a:r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endParaRPr lang="en-IN" sz="1050" dirty="0"/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lang="en-IN" sz="1050" dirty="0"/>
              <a:t>GRANT SELECT ON SoftwareManagementSystem.Software TO 'project_user'@'localhost’;</a:t>
            </a:r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endParaRPr lang="en-IN" sz="1050" dirty="0"/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lang="en-IN" sz="1050" dirty="0"/>
              <a:t>GRANT INSERT, UPDATE ON SoftwareManagementSystem.Software TO 'project_user'@'localhost';</a:t>
            </a:r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endParaRPr lang="en-IN" sz="1050" dirty="0"/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lang="en-IN" sz="1050" dirty="0"/>
              <a:t>REVOKE UPDATE ON SoftwareManagementSystem.Software FROM 'project_user'@'localhost';</a:t>
            </a:r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endParaRPr lang="en-IN" sz="1050" dirty="0"/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lang="en-IN" sz="1050" dirty="0"/>
              <a:t>REVOKE INSERT ON SoftwareManagementSystem.Software</a:t>
            </a:r>
          </a:p>
          <a:p>
            <a:pPr>
              <a:spcAft>
                <a:spcPts val="200"/>
              </a:spcAft>
              <a:defRPr sz="950">
                <a:solidFill>
                  <a:srgbClr val="1E3764"/>
                </a:solidFill>
                <a:latin typeface="Consolas"/>
              </a:defRPr>
            </a:pPr>
            <a:r>
              <a:rPr lang="en-IN" sz="1050" dirty="0"/>
              <a:t>FROM 'project_user'@'localhost';</a:t>
            </a:r>
            <a:endParaRPr sz="1050" dirty="0"/>
          </a:p>
        </p:txBody>
      </p:sp>
      <p:sp>
        <p:nvSpPr>
          <p:cNvPr id="23" name="TextBox 22"/>
          <p:cNvSpPr txBox="1"/>
          <p:nvPr/>
        </p:nvSpPr>
        <p:spPr>
          <a:xfrm>
            <a:off x="8178917" y="5806886"/>
            <a:ext cx="3009157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4E49AA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DCL: CREATE USER, GRANT, REVOKE,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150" b="1">
                <a:solidFill>
                  <a:srgbClr val="4E49AA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GRANTS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BA2AB1F-6864-40ED-ADBA-BD24CC47D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90" y="250198"/>
            <a:ext cx="1869141" cy="5968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89934" y="203617"/>
            <a:ext cx="281872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2AA469"/>
                </a:solidFill>
              </a:defRPr>
            </a:pPr>
            <a:r>
              <a:rPr sz="3200" dirty="0">
                <a:solidFill>
                  <a:schemeClr val="accent2">
                    <a:lumMod val="50000"/>
                  </a:schemeClr>
                </a:solidFill>
                <a:latin typeface="Elephant" panose="02020904090505020303" pitchFamily="18" charset="0"/>
                <a:cs typeface="Times New Roman" panose="02020603050405020304" pitchFamily="18" charset="0"/>
              </a:rPr>
              <a:t>Join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884889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bines related records from multiple tables in the Software Management System.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5440680" cy="2240280"/>
          </a:xfrm>
          <a:prstGeom prst="rect">
            <a:avLst/>
          </a:prstGeom>
          <a:solidFill>
            <a:srgbClr val="F8FAFC"/>
          </a:solidFill>
          <a:ln>
            <a:solidFill>
              <a:srgbClr val="2AA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7512" y="1379182"/>
            <a:ext cx="348313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AA469"/>
                </a:solidFill>
              </a:defRPr>
            </a:pPr>
            <a:r>
              <a:rPr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INNER JOIN – Software + Developer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9892" y="1820039"/>
            <a:ext cx="5120640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S.Software_Name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D.Developer_Name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D.Company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Software S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INNER JOIN Developer D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S.Developer_ID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D.Developer_ID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3090672"/>
            <a:ext cx="428393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B4B4B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Display software with developer details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234440"/>
            <a:ext cx="5623092" cy="2240280"/>
          </a:xfrm>
          <a:prstGeom prst="rect">
            <a:avLst/>
          </a:prstGeom>
          <a:solidFill>
            <a:srgbClr val="F8FAFC"/>
          </a:solidFill>
          <a:ln>
            <a:solidFill>
              <a:srgbClr val="2AA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36792" y="1344168"/>
            <a:ext cx="347140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AA469"/>
                </a:solidFill>
              </a:defRPr>
            </a:pPr>
            <a:r>
              <a:rPr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 JOIN – Software + Installation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737360"/>
            <a:ext cx="5120640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S.Software_Name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I.Install_Date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I.Device_Name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Software S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JOIN Installation I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S.Software_ID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I.Software_ID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3090672"/>
            <a:ext cx="465262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B4B4B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Display all software and installation details.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19" y="3749038"/>
            <a:ext cx="5440679" cy="2575561"/>
          </a:xfrm>
          <a:prstGeom prst="rect">
            <a:avLst/>
          </a:prstGeom>
          <a:solidFill>
            <a:srgbClr val="F8FAFC"/>
          </a:solidFill>
          <a:ln>
            <a:solidFill>
              <a:srgbClr val="2AA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7512" y="3858768"/>
            <a:ext cx="332924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AA469"/>
                </a:solidFill>
              </a:defRPr>
            </a:pPr>
            <a:r>
              <a:rPr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 JOIN – Users + Installation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416" y="4347347"/>
            <a:ext cx="5120640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U.User_Name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I.Install_Date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I.Device_Name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Installation I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 JOIN Users U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I.User_ID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U.User_ID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5605272"/>
            <a:ext cx="48269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B4B4B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Display all users and their installation details.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749038"/>
            <a:ext cx="5601932" cy="2575561"/>
          </a:xfrm>
          <a:prstGeom prst="rect">
            <a:avLst/>
          </a:prstGeom>
          <a:solidFill>
            <a:srgbClr val="F8FAFC"/>
          </a:solidFill>
          <a:ln>
            <a:solidFill>
              <a:srgbClr val="2AA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60592" y="3829258"/>
            <a:ext cx="285565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AA469"/>
                </a:solidFill>
              </a:defRPr>
            </a:pPr>
            <a:r>
              <a:rPr sz="1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 JOIN – Same Developer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0592" y="4141306"/>
            <a:ext cx="5120640" cy="1718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S1.Software_Name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Software1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S2.Software_Name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Software2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D.Developer_Name 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Software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JOIN Software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S1.Developer_ID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S2.Developer_ID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S1.Software_ID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S2.Software_ID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Developer D 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S1.Developer_ID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D.Developer_ID;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26304" y="5865308"/>
            <a:ext cx="566898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B4B4B"/>
                </a:solidFill>
              </a:defRPr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Find different software developed by the same developer.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A08CF94-0469-4A7A-A849-892A68067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33" y="112574"/>
            <a:ext cx="1869141" cy="5968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68079" y="233360"/>
            <a:ext cx="2640146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464BAA"/>
                </a:solidFill>
              </a:defRPr>
            </a:pPr>
            <a:r>
              <a:rPr dirty="0">
                <a:solidFill>
                  <a:schemeClr val="accent3">
                    <a:lumMod val="50000"/>
                  </a:schemeClr>
                </a:solidFill>
                <a:latin typeface="Elephant" panose="02020904090505020303" pitchFamily="18" charset="0"/>
              </a:rPr>
              <a:t>View Queries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908511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Views provide reusable virtual tables for frequently required information and reports.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34440"/>
            <a:ext cx="5440680" cy="2461260"/>
          </a:xfrm>
          <a:prstGeom prst="rect">
            <a:avLst/>
          </a:prstGeom>
          <a:solidFill>
            <a:srgbClr val="F8FAFC"/>
          </a:solidFill>
          <a:ln>
            <a:solidFill>
              <a:srgbClr val="46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2940" y="1301583"/>
            <a:ext cx="31275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64BAA"/>
                </a:solidFill>
              </a:defRPr>
            </a:pPr>
            <a:r>
              <a:rPr sz="16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Updatable View – Active Licenses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" y="1631524"/>
            <a:ext cx="5120640" cy="1746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VIEW </a:t>
            </a:r>
            <a:r>
              <a:rPr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Active_Licenses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License_ID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License_Type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Issue_Date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Expiry_Date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Status, </a:t>
            </a:r>
            <a:r>
              <a:rPr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Software_ID</a:t>
            </a: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License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Status = 'Active';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</a:t>
            </a:r>
            <a:r>
              <a:rPr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Active_Licenses</a:t>
            </a: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Status = 'Expired'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License_ID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" y="3323949"/>
            <a:ext cx="43576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B4B4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Manage active license records through the 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234440"/>
            <a:ext cx="5440680" cy="2461260"/>
          </a:xfrm>
          <a:prstGeom prst="rect">
            <a:avLst/>
          </a:prstGeom>
          <a:solidFill>
            <a:srgbClr val="F8FAFC"/>
          </a:solidFill>
          <a:ln>
            <a:solidFill>
              <a:srgbClr val="46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36792" y="1308359"/>
            <a:ext cx="363529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64BAA"/>
                </a:solidFill>
              </a:defRPr>
            </a:pPr>
            <a:r>
              <a:rPr sz="16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Non-updatable View – Software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1737360"/>
            <a:ext cx="5120640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VIEW </a:t>
            </a:r>
            <a:r>
              <a:rPr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Software_Report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S.Software_Name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D.Developer_Name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C.Category_Name</a:t>
            </a: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Software S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Developer D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S.Developer_ID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D.Developer_ID</a:t>
            </a:r>
            <a:endParaRPr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Category C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S.Category_ID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C.Category_ID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3366138"/>
            <a:ext cx="523175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B4B4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Create a combined software, developer and category report.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0603" y="3928791"/>
            <a:ext cx="5440680" cy="2240280"/>
          </a:xfrm>
          <a:prstGeom prst="rect">
            <a:avLst/>
          </a:prstGeom>
          <a:solidFill>
            <a:srgbClr val="F8FAFC"/>
          </a:solidFill>
          <a:ln>
            <a:solidFill>
              <a:srgbClr val="46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940" y="4013811"/>
            <a:ext cx="229409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64BAA"/>
                </a:solidFill>
              </a:defRPr>
            </a:pPr>
            <a:r>
              <a:rPr sz="16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Updatable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4568" y="4488973"/>
            <a:ext cx="5120640" cy="428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10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Active_Licenses</a:t>
            </a:r>
            <a:r>
              <a:rPr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5605272"/>
            <a:ext cx="372922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B4B4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View the current active-license records.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928791"/>
            <a:ext cx="5440680" cy="2240280"/>
          </a:xfrm>
          <a:prstGeom prst="rect">
            <a:avLst/>
          </a:prstGeom>
          <a:solidFill>
            <a:srgbClr val="F8FAFC"/>
          </a:solidFill>
          <a:ln>
            <a:solidFill>
              <a:srgbClr val="464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36792" y="3983161"/>
            <a:ext cx="269323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464BAA"/>
                </a:solidFill>
              </a:defRPr>
            </a:pPr>
            <a:r>
              <a:rPr sz="16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Non-updatable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4488974"/>
            <a:ext cx="5120640" cy="41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</a:t>
            </a:r>
          </a:p>
          <a:p>
            <a:pPr>
              <a:spcAft>
                <a:spcPts val="100"/>
              </a:spcAft>
              <a:defRPr sz="950">
                <a:solidFill>
                  <a:srgbClr val="193764"/>
                </a:solidFill>
                <a:latin typeface="Consolas"/>
              </a:defRPr>
            </a:pP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Software_Report</a:t>
            </a:r>
            <a: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5605272"/>
            <a:ext cx="343453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i="1">
                <a:solidFill>
                  <a:srgbClr val="4B4B4B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View the combined software report.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064CF30-A60A-4861-857C-D6DBD5F24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22" y="116382"/>
            <a:ext cx="1869141" cy="5968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51985" y="297954"/>
            <a:ext cx="354507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4000" dirty="0">
                <a:solidFill>
                  <a:schemeClr val="accent1">
                    <a:lumMod val="50000"/>
                  </a:schemeClr>
                </a:solidFill>
              </a:rPr>
              <a:t>ACID</a:t>
            </a:r>
            <a:r>
              <a:rPr sz="4000" dirty="0"/>
              <a:t> </a:t>
            </a:r>
            <a:r>
              <a:rPr sz="4000" dirty="0">
                <a:solidFill>
                  <a:schemeClr val="accent1">
                    <a:lumMod val="50000"/>
                  </a:schemeClr>
                </a:solidFill>
              </a:rPr>
              <a:t>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607538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that help maintain reliable database transactions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881" y="1559850"/>
            <a:ext cx="32461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11580" y="2046220"/>
            <a:ext cx="148309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4E79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Atomicity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481" y="2692563"/>
            <a:ext cx="2788920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transaction is completed fully or not at all.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software installation record should not be partially saved.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600200"/>
            <a:ext cx="32461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61535" y="1961495"/>
            <a:ext cx="175881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4E79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692563"/>
            <a:ext cx="2788920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transaction keeps the database in a valid state.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and constraints remain correct.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600200"/>
            <a:ext cx="32461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27097" y="1961495"/>
            <a:ext cx="310854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4E79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&amp; Durability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644607"/>
            <a:ext cx="2788920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Isolation: concurrent transactions do not interfere incorrectly.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Durability: committed changes remain saved even after a failure.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CBA4412-7B11-4D46-943B-4ED77984E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51" y="155591"/>
            <a:ext cx="1869141" cy="5968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75685" y="297954"/>
            <a:ext cx="462440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4000" dirty="0">
                <a:solidFill>
                  <a:schemeClr val="accent1">
                    <a:lumMod val="50000"/>
                  </a:schemeClr>
                </a:solidFill>
              </a:rPr>
              <a:t>Recovery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1361" y="1014710"/>
            <a:ext cx="593470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4E79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Restoring database operations after failures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32461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2059632"/>
            <a:ext cx="260763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4E79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 &amp; Restore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2563"/>
            <a:ext cx="2788920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backups provide a safe copy of important data.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can be restored after accidental loss or system failure.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600200"/>
            <a:ext cx="32461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43400" y="2040100"/>
            <a:ext cx="289374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4E79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Log-Based Recovery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692563"/>
            <a:ext cx="2788920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logs record important database changes.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 can help redo committed transactions or undo incomplete 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600200"/>
            <a:ext cx="32461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41012" y="2040099"/>
            <a:ext cx="211788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F4E79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Checkpointing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692562"/>
            <a:ext cx="2788920" cy="2067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checkpoint records a known consistent state.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700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the amount of work required during recovery.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38460F-EFDC-4A7C-A974-DE6939773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51" y="155591"/>
            <a:ext cx="1869141" cy="5968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55576" y="393192"/>
            <a:ext cx="250741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4000" dirty="0">
                <a:solidFill>
                  <a:schemeClr val="accent1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0085" y="1268730"/>
            <a:ext cx="10058400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2400" dirty="0"/>
              <a:t>The Software Management System provides a centralized and organized way to manage software-related information.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2400" dirty="0"/>
              <a:t>It efficiently manages software, users, licenses, versions, installations, subscriptions, and bug reports.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2400" dirty="0"/>
              <a:t>Normalization reduces data redundancy and improves data consistency and maintainability.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2400" dirty="0"/>
              <a:t>ACID properties ensure reliable and safe database transactions.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2400" dirty="0"/>
              <a:t>Recovery techniques help protect data and restore database operations after failures.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1900"/>
            </a:pPr>
            <a:r>
              <a:rPr sz="2400" dirty="0"/>
              <a:t>Overall, the DBMS improves data accuracy, security, retrieval, and software administration</a:t>
            </a:r>
            <a:r>
              <a:rPr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1D063A-5A5B-45D0-8A27-03983A632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251" y="155591"/>
            <a:ext cx="1869141" cy="596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737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18741" y="294908"/>
            <a:ext cx="296401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sz="4000" dirty="0">
                <a:solidFill>
                  <a:schemeClr val="accent1">
                    <a:lumMod val="50000"/>
                  </a:schemeClr>
                </a:solidFill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6618" y="1141095"/>
            <a:ext cx="5734132" cy="5421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400"/>
              </a:spcAft>
              <a:buFont typeface="Arial" panose="020B0604020202020204" pitchFamily="34" charset="0"/>
              <a:buChar char="•"/>
              <a:defRPr sz="2000"/>
            </a:pPr>
            <a:r>
              <a:rPr sz="24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role-based access control for administrators, developers, and users.</a:t>
            </a:r>
          </a:p>
          <a:p>
            <a:pPr marL="342900" indent="-342900" algn="just">
              <a:spcAft>
                <a:spcPts val="1400"/>
              </a:spcAft>
              <a:buFont typeface="Arial" panose="020B0604020202020204" pitchFamily="34" charset="0"/>
              <a:buChar char="•"/>
              <a:defRPr sz="2000"/>
            </a:pPr>
            <a:r>
              <a:rPr sz="24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 automated license-expiry and subscription-renewal notifications.</a:t>
            </a:r>
          </a:p>
          <a:p>
            <a:pPr marL="342900" indent="-342900" algn="just">
              <a:spcAft>
                <a:spcPts val="1400"/>
              </a:spcAft>
              <a:buFont typeface="Arial" panose="020B0604020202020204" pitchFamily="34" charset="0"/>
              <a:buChar char="•"/>
              <a:defRPr sz="2000"/>
            </a:pPr>
            <a:r>
              <a:rPr sz="24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 dashboards and analytics for software usage and license status.</a:t>
            </a:r>
          </a:p>
          <a:p>
            <a:pPr marL="342900" indent="-342900" algn="just">
              <a:spcAft>
                <a:spcPts val="1400"/>
              </a:spcAft>
              <a:buFont typeface="Arial" panose="020B0604020202020204" pitchFamily="34" charset="0"/>
              <a:buChar char="•"/>
              <a:defRPr sz="2000"/>
            </a:pPr>
            <a:r>
              <a:rPr sz="24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cloud deployment for secure access from multiple locations.</a:t>
            </a:r>
          </a:p>
          <a:p>
            <a:pPr marL="342900" indent="-342900" algn="just">
              <a:spcAft>
                <a:spcPts val="1400"/>
              </a:spcAft>
              <a:buFont typeface="Arial" panose="020B0604020202020204" pitchFamily="34" charset="0"/>
              <a:buChar char="•"/>
              <a:defRPr sz="2000"/>
            </a:pPr>
            <a:r>
              <a:rPr sz="24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 automated backup, recovery, and audit logging.</a:t>
            </a:r>
          </a:p>
          <a:p>
            <a:pPr marL="342900" indent="-342900" algn="just">
              <a:spcAft>
                <a:spcPts val="1400"/>
              </a:spcAft>
              <a:buFont typeface="Arial" panose="020B0604020202020204" pitchFamily="34" charset="0"/>
              <a:buChar char="•"/>
              <a:defRPr sz="2000"/>
            </a:pPr>
            <a:r>
              <a:rPr sz="24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Extend the system with AI-based insights for usage trends and issue detection</a:t>
            </a:r>
            <a:r>
              <a:rPr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</p:txBody>
      </p:sp>
      <p:pic>
        <p:nvPicPr>
          <p:cNvPr id="1026" name="Picture 2" descr="Emerging Trends and Future Advancements in DBMS | by Shantanu Wadode |  Medium">
            <a:extLst>
              <a:ext uri="{FF2B5EF4-FFF2-40B4-BE49-F238E27FC236}">
                <a16:creationId xmlns:a16="http://schemas.microsoft.com/office/drawing/2014/main" id="{0AD231E8-C02A-4275-9796-0DDB381F1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034" y="1633537"/>
            <a:ext cx="5551342" cy="3590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C654FB-60C3-4081-966C-94D94545F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51" y="155591"/>
            <a:ext cx="1869141" cy="59688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77B3A9-7E00-4C7D-A6B1-F8D629229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C904F4-E612-41FF-80DB-7EFE91C6D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189" y="1703744"/>
            <a:ext cx="2718161" cy="8680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5EB9D0-AAD9-4CDD-9426-3AA2CE36F65E}"/>
              </a:ext>
            </a:extLst>
          </p:cNvPr>
          <p:cNvSpPr txBox="1"/>
          <p:nvPr/>
        </p:nvSpPr>
        <p:spPr>
          <a:xfrm flipH="1">
            <a:off x="4827269" y="4003327"/>
            <a:ext cx="25450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For your attention.</a:t>
            </a:r>
          </a:p>
        </p:txBody>
      </p:sp>
    </p:spTree>
    <p:extLst>
      <p:ext uri="{BB962C8B-B14F-4D97-AF65-F5344CB8AC3E}">
        <p14:creationId xmlns:p14="http://schemas.microsoft.com/office/powerpoint/2010/main" val="3324966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718</TotalTime>
  <Words>1492</Words>
  <Application>Microsoft Office PowerPoint</Application>
  <PresentationFormat>Widescreen</PresentationFormat>
  <Paragraphs>285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Arial</vt:lpstr>
      <vt:lpstr>Bahnschrift SemiBold</vt:lpstr>
      <vt:lpstr>Bitter</vt:lpstr>
      <vt:lpstr>Bodoni MT</vt:lpstr>
      <vt:lpstr>Calibri</vt:lpstr>
      <vt:lpstr>Calibri Light</vt:lpstr>
      <vt:lpstr>Consolas</vt:lpstr>
      <vt:lpstr>Elephant</vt:lpstr>
      <vt:lpstr>Outfit Bold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74</cp:revision>
  <dcterms:created xsi:type="dcterms:W3CDTF">2026-08-04T07:50:35Z</dcterms:created>
  <dcterms:modified xsi:type="dcterms:W3CDTF">2026-09-28T16:27:06Z</dcterms:modified>
</cp:coreProperties>
</file>